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4572000" cy="41148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2011680"/>
            <a:ext cx="3474720" cy="3200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200400" cy="34747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161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PROPOSITION COMMERCIALE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Automatiser la génération
de leads pour les SaaS RH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6583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E4F7"/>
                </a:solidFill>
              </a:rPr>
              <a:t>Moins de prospection manuelle. Plus de pipeline qualifié.
Pilotez votre croissance avec l'IA.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09160"/>
            <a:ext cx="3657600" cy="254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A99"/>
                </a:solidFill>
              </a:rPr>
              <a:t>Mai 2026  ·  Confidentiel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9"/>
                </a:solidFill>
              </a:rPr>
              <a:t>[LOGO NON FOURNI — veuillez fournir votre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Résumé Exécutif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Ce que nous vous proposons en 4 points clés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651760" cy="73152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FD8"/>
                </a:solidFill>
              </a:rPr>
              <a:t>🎯 Le Problème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562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Les équipes Sales des SaaS RH passent 60 % de leur temps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58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sur de la prospection manuelle à faible rendement.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6090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Le coût d'acquisition client (CAC) explose, le pipeline stagne.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72968" y="123444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72968" y="1234440"/>
            <a:ext cx="2651760" cy="7315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5AD"/>
                </a:solidFill>
              </a:rPr>
              <a:t>💡 Notre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8562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Un système d'automatisation IA multicanal (email, LinkedIn,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258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téléphone) qui identifie, qualifie et nurture les prospects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66090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en continu — sans intervention humaine quotidienne.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123444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25896" y="1234440"/>
            <a:ext cx="265176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6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</a:rPr>
              <a:t>📈 Les Résultats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18562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× 3 le volume de leads qualifiés en 90 jours.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2258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−45 % de CAC sur les 6 premiers mois.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66090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ROI positif dès le 2e mois pour nos clients actuels.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78824" y="1234440"/>
            <a:ext cx="265176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78824" y="1234440"/>
            <a:ext cx="2651760" cy="731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15984" y="1371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🚀 Prochaine Étape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185623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Audit gratuit de votre process actuel (2h).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5984" y="225856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Proposition personnalisée sous 5 jours ouvrés.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5984" y="2660904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Premier pipeline automatisé opérationnel en 3 semaines.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Sources: Gartner (2024), MarketsandMarkets (2024), LinkedIn Talent Solutions (2024)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L'Opportunité de Marché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HR Tech — un secteur en forte croissance qui sous-investit dans la génération de leads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6974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173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6FD8"/>
                </a:solidFill>
              </a:rPr>
              <a:t>$32 Mds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842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Marché HR Tech mondial
(2024)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325880"/>
            <a:ext cx="26974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4173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5AD"/>
                </a:solidFill>
              </a:rPr>
              <a:t>~14 %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9842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CAGR 2024–2030
(consensus)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325880"/>
            <a:ext cx="26974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4173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A4A"/>
                </a:solidFill>
              </a:rPr>
              <a:t>$72 Mds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842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Projection marché
(2030)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960" y="1325880"/>
            <a:ext cx="269748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17320"/>
            <a:ext cx="2697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68 %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98424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SaaS RH sans process
lead gen structuré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43200"/>
          <a:ext cx="749807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1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Taille marché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CAGR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Projection 2030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Gartner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$31.5 Mds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13.8 %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$68.2 Mds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MarketsandMarkets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$32.4 Mds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14.2 %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$72.1 Mds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Grand View Research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$33.1 Mds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14.6 %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$75.4 Mds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Consensus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$31–33 Mds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~14 %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$68–75 Mds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046720" y="1325880"/>
            <a:ext cx="3794760" cy="3703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325880"/>
            <a:ext cx="64008" cy="37033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Points Clés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87451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Marché HR Tech en accélération post-COVID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441447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~15 000 SaaS RH actifs en Europe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08375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Seuls 32 % ont un process lead gen
    automatisé (Gartner 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75303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Budget moyen alloué au lead gen :
    18 % du budget marketing SaaS RH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42231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Fenêtre d'opportunité : les early-adopters
    IA capturent 3× plus de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Sources: Gartner (2024), MarketsandMarkets (2024), LinkedIn Talent Solutions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Le Problème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Pourquoi la génération de leads reste le talon d'Achille des SaaS RH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54864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2A4A"/>
                </a:solidFill>
              </a:rPr>
              <a:t>Les équipes commerciales SaaS RH sont prises dans un cercle vicieux : trop de prospection manuelle, trop peu de leads qualifiés, CAC qui explose — et aucun système scalable pour en sortir.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57400"/>
            <a:ext cx="36118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3055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⏰ Temps perdu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14600"/>
            <a:ext cx="3611880" cy="3291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2651760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60 % du temps Sales sur la
prospection froide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364992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~4h/jour par commercial
sur LinkedIn et email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4078224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Données prospects obsolètes
dans le CRM (37 % en moyenne)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4791456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Zéro scalabilité sans recruter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057400"/>
            <a:ext cx="3611880" cy="4572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13055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📉 Pipeline insuffisant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514600"/>
            <a:ext cx="3611880" cy="3291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8" y="2651760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Taux de réponse email &lt;2 %
sur les séquences non ciblées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8" y="3364992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Taux de conversion MQL→SQL
&lt;12 % sans scoring 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4078224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Cycles de vente 30 % plus longs
faute de nurturing adapté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4791456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Perte de leads chauds par manque
de relance au bon moment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057400"/>
            <a:ext cx="361188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213055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💸 CAC incontrôlé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2514600"/>
            <a:ext cx="3611880" cy="32918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8" y="2651760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CAC moyen SaaS RH Europe :
€3 200–€8 500 par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3364992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40 % du budget marketing brûlé
sur du trafic non qualifié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078224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ROI campagnes impossible à
mesurer sans attribution claire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8" y="4791456"/>
            <a:ext cx="34107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B2A4A"/>
                </a:solidFill>
              </a:rPr>
              <a:t>•  Pression investisseurs sur
l'efficience commerciale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Sources: Gartner (2024), MarketsandMarkets (2024), LinkedIn Talent Solutions (2024)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Notre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Un système IA de génération de leads conçu pour les SaaS RH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6217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0759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Nous construisons et opérons un système d'automatisation complet : ciblage IA → enrichissement données → outreach multicanal → scoring → nurturing → transfert CRM.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19202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011680"/>
            <a:ext cx="1920240" cy="73152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" y="2148840"/>
            <a:ext cx="384048" cy="384048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60604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FD8"/>
                </a:solidFill>
              </a:rPr>
              <a:t>Ciblage
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337560"/>
            <a:ext cx="1737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ICP précis
Base enrichie
Signaux d'achat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41448" y="2011680"/>
            <a:ext cx="19202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1448" y="2011680"/>
            <a:ext cx="1920240" cy="7315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2148840"/>
            <a:ext cx="384048" cy="384048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260604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5AD"/>
                </a:solidFill>
              </a:rPr>
              <a:t>Outreach
Multicanal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2888" y="3337560"/>
            <a:ext cx="1737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Email séquencé
LinkedIn auto
Appels ciblés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62856" y="2011680"/>
            <a:ext cx="19202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62856" y="2011680"/>
            <a:ext cx="1920240" cy="73152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36008" y="2148840"/>
            <a:ext cx="384048" cy="384048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8" y="260604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FD8"/>
                </a:solidFill>
              </a:rPr>
              <a:t>Scoring
&amp; Qualification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3337560"/>
            <a:ext cx="1737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Lead scoring IA
Classification
Priorisation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84264" y="2011680"/>
            <a:ext cx="19202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84264" y="2011680"/>
            <a:ext cx="1920240" cy="7315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757416" y="2148840"/>
            <a:ext cx="384048" cy="384048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7416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260604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5AD"/>
                </a:solidFill>
              </a:rPr>
              <a:t>Nurturing
Automatisé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3337560"/>
            <a:ext cx="1737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Contenu adapté
Relances ciblées
Suivi engagement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6FD8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05672" y="2011680"/>
            <a:ext cx="1920240" cy="2560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05672" y="2011680"/>
            <a:ext cx="1920240" cy="73152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78824" y="2148840"/>
            <a:ext cx="384048" cy="384048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78824" y="21488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78824" y="2606040"/>
            <a:ext cx="177393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FD8"/>
                </a:solidFill>
              </a:rPr>
              <a:t>Transfert
CRM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97112" y="3337560"/>
            <a:ext cx="1737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SQL qualifiés
Contexte complet
Prise en main Sales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800600"/>
            <a:ext cx="11521440" cy="5029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8646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2A4A"/>
                </a:solidFill>
              </a:rPr>
              <a:t>Stack Technologique :  Claude (Anthropic)  ·  Make / n8n  ·  Apollo.io  ·  Lemlist / Instantly  ·  LinkedIn Sales Navigator  ·  HubSpot / Salesforce  ·  Clearbit / Hunter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Sources: Gartner (2024), MarketsandMarkets (2024), LinkedIn Talent Solutions (2024)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Ce que le système fait pour vous — en continu, 24h/24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2697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34440"/>
            <a:ext cx="2697480" cy="54864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3441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🎯 ICP Builder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64792"/>
            <a:ext cx="2514600" cy="127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892808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Définition automatique du profil
client idéal (ICP) à partir de
vos clients existants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91693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Détection de signaux d'achat
(levées de fonds, recrutement,
croissance RH)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941064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Base de données enrichie
(email, LinkedIn, téléphone)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234440"/>
            <a:ext cx="2697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18688" y="1234440"/>
            <a:ext cx="2697480" cy="54864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3441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✉️ Séquences Intelligentes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1764792"/>
            <a:ext cx="2514600" cy="127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6" y="1892808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Emails ultra-personnalisés
générés par IA (taux ouverture
cible : &gt;45 %)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8416" y="291693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Intégration LinkedIn (visites
profil, messages InMail,
demandes de connexion)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8416" y="3941064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A/B testing automatique
des objets et CTA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17336" y="1234440"/>
            <a:ext cx="2697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17336" y="1234440"/>
            <a:ext cx="2697480" cy="54864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13441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📊 Scoring &amp;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8776" y="1764792"/>
            <a:ext cx="2514600" cy="127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7064" y="1892808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Score lead en temps réel
basé sur comportement +
fichier ICP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7064" y="291693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Routage automatique vers
le bon commercial selon
territoire /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3941064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Alertes Slack/email pour
les leads chauds (score &gt;80)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15984" y="1234440"/>
            <a:ext cx="2697480" cy="41148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15984" y="1234440"/>
            <a:ext cx="2697480" cy="54864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07424" y="134416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🔄 Nurturing Long Terme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7424" y="1764792"/>
            <a:ext cx="2514600" cy="127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5712" y="1892808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Parcours automatisés 30–
90–180 jours pour les leads
non-prêts à acheter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5712" y="2916936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Contenu adapté au segment
(PME, ETI, Grand Compte)
et au rôle (DRH, CEO)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25712" y="3941064"/>
            <a:ext cx="24780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•  Réactivation automatique
des leads froids du CRM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Sources: Gartner (2024), MarketsandMarkets (2024), LinkedIn Talent Solutions (2024)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ROI &amp; Résultats Attendus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Benchmarks basés sur nos déploiements SaaS RH (cohorte 2024–2025)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217627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6FD8"/>
                </a:solidFill>
              </a:rPr>
              <a:t>× 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Volume MQL
(J+90)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1280160"/>
            <a:ext cx="217627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137160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7AE60"/>
                </a:solidFill>
              </a:rPr>
              <a:t>−45 %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93852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Coût par lead
(J+180)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8616" y="1280160"/>
            <a:ext cx="217627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137160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5AD"/>
                </a:solidFill>
              </a:rPr>
              <a:t>&lt; 3 sem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193852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Time-to-pipeline
(mise en route)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32904" y="1280160"/>
            <a:ext cx="217627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32904" y="137160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67E22"/>
                </a:solidFill>
              </a:rPr>
              <a:t>+68 %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193852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Taux conversion
MQL → 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37192" y="1280160"/>
            <a:ext cx="2176272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7192" y="1371600"/>
            <a:ext cx="21762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B2A4A"/>
                </a:solidFill>
              </a:rPr>
              <a:t>J+45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93852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A99"/>
                </a:solidFill>
              </a:rPr>
              <a:t>ROI positif
moyen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788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A4A"/>
                </a:solidFill>
              </a:rPr>
              <a:t>Courbe de Performance Type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154680"/>
          <a:ext cx="71323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1426464"/>
                <a:gridCol w="1426464"/>
                <a:gridCol w="1426464"/>
                <a:gridCol w="1426464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Période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Volume Leads/mois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Taux Conv.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CAC Estimé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Lancement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Sem. 1–3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50–100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5–8 %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−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Rampe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Mois 2–3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150–300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10–14 %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−20 %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Croisière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Mois 4–6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400–700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16–22 %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−35 %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Optimisation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Mois 6–12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700–1 200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22–28 %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−45 %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726679" y="2788920"/>
            <a:ext cx="4114800" cy="26060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26679" y="2788920"/>
            <a:ext cx="64008" cy="260604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85292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A4A"/>
                </a:solidFill>
              </a:rPr>
              <a:t>📌 Cas Client — SaaS RH (200 salariés)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32918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A4A"/>
                </a:solidFill>
              </a:rPr>
              <a:t>« Avant : 2 SDR pour 80 leads/mois.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5661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A4A"/>
                </a:solidFill>
              </a:rPr>
              <a:t>  Aujourd'hui : 1 SDR + système IA,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84048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B2A4A"/>
                </a:solidFill>
              </a:rPr>
              <a:t>  450 leads/mois, CAC −52 %. 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1148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8912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Déployé en 18 jours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6634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ROI positif dès le mois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9377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2A4A"/>
                </a:solidFill>
              </a:rPr>
              <a:t>✓  3 recrutements SDR annulés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 : Benchmarks internes, cohorte clients SaaS RH 2024–2025 (n=12). Résultats non garantis, dépendent du contexte marché.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Paysage Concurrentiel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Pourquoi notre approche surpasse les alternatives actuelles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325880"/>
          <a:ext cx="115214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Critère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Approche</a:t>
                      </a:r>
                    </a:p>
                    <a:p>
                      <a:r>
                        <a:t>Manuelle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Outils SaaS</a:t>
                      </a:r>
                    </a:p>
                    <a:p>
                      <a:r>
                        <a:t>Standard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Agences</a:t>
                      </a:r>
                    </a:p>
                    <a:p>
                      <a:r>
                        <a:t>Lead Gen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</a:rPr>
                        <a:t>Notre</a:t>
                      </a:r>
                    </a:p>
                    <a:p>
                      <a:r>
                        <a:t>Solution ✓</a:t>
                      </a:r>
                    </a:p>
                  </a:txBody>
                  <a:tcPr>
                    <a:solidFill>
                      <a:srgbClr val="00B5AD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Personnalisation IA du message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 Totale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ICP builder automatique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Signaux d'achat temps réel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Nurturing long terme automatisé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 + IA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Intégration CRM native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Spécialisé SaaS 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Rare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Reporting ROI en temps réel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×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Partielle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✓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Coût mensuel (estimation)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€8–15k</a:t>
                      </a:r>
                    </a:p>
                    <a:p>
                      <a:r>
                        <a:t>(salaires)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€500–2k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€3–8k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€2–5k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B2A4A"/>
                          </a:solidFill>
                        </a:rPr>
                        <a:t>Délai mise en route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2–3 mois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1–2 semaines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B2A4A"/>
                          </a:solidFill>
                        </a:rPr>
                        <a:t>1 mois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B2A4A"/>
                          </a:solidFill>
                        </a:rPr>
                        <a:t>&lt; 3 semaines</a:t>
                      </a:r>
                    </a:p>
                  </a:txBody>
                  <a:tcPr>
                    <a:solidFill>
                      <a:srgbClr val="D6F0EE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Sources: Gartner (2024), MarketsandMarkets (2024), LinkedIn Talent Solutions (2024)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Notre Offre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4980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5AD"/>
                </a:solidFill>
              </a:rPr>
              <a:t>3 formules adaptées à votre stade de croissance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61188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3611880" cy="7315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5AD"/>
                </a:solidFill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</a:rPr>
              <a:t>€ 1 990 / mois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31720"/>
            <a:ext cx="3246120" cy="4572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Idéal : Seed / Série A,
1–2 commerciaux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288036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ICP builder + base enrichie (2 500 contacts/mois)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323697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Séquences email automatisées (3 canaux)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59359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Scoring leads basique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3950208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Intégration CRM (HubSpot ou Pipedrive)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306824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Reporting mensuel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6344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9"/>
                </a:solidFill>
              </a:rPr>
              <a:t>×  LinkedIn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02005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A99"/>
                </a:solidFill>
              </a:rPr>
              <a:t>×  Nurturing long terme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1280160"/>
            <a:ext cx="361188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60520" y="1280160"/>
            <a:ext cx="3611880" cy="73152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1417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FD8"/>
                </a:solidFill>
              </a:rP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17830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</a:rPr>
              <a:t>€ 3 490 / mois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2331720"/>
            <a:ext cx="3246120" cy="457200"/>
          </a:xfrm>
          <a:prstGeom prst="rect">
            <a:avLst/>
          </a:prstGeom>
          <a:solidFill>
            <a:srgbClr val="2E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23774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Idéal : Série A/B,
3–8 commerciaux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88036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Tout Starter 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323697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LinkedIn automation complète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359359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ICP avancé + signaux d'achat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950208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Nurturing 90 jours automatisé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4306824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Scoring IA avancé +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466344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Alertes Slack temps réel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502005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Reporting hebdomadaire + QBR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1280160"/>
            <a:ext cx="3611880" cy="43891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1280160"/>
            <a:ext cx="3611880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14173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</a:rPr>
              <a:t>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1783080"/>
            <a:ext cx="3611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</a:rPr>
              <a:t>€ 5 990 / mois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80" y="2331720"/>
            <a:ext cx="32461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23774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Idéal : Série B+,
8+ commerciaux / multi-pays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8" y="288036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Tout Growth 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8" y="323697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Multi-langues (FR, EN, DE, 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0728" y="3593592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Campagnes ABM Grands Comptes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8" y="3950208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Intégration Salesforce + API custom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4306824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Dashboard BI dédié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8" y="466344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2 sprints optimisation/mois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0728" y="5020056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7AE60"/>
                </a:solidFill>
              </a:rPr>
              <a:t>✓  CSM dédié + SLA 4h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583387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A99"/>
                </a:solidFill>
              </a:rPr>
              <a:t>Tous les forfaits incluent : onboarding (3 sem.) · support email · accès dashboard · audit initial gratuit · sans engagement sur 3 mois, puis mensuel.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A99"/>
                </a:solidFill>
              </a:rPr>
              <a:t>Tarifs HT. Sur devis pour volumes &gt; 5 000 contacts/mois ou configurations enterprise.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Prochaines Étapes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3200400" cy="3810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463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Audit Gratuit (2h)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4708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Analyse de votre process actuel, de vos ICP, de votre stack CRM et de vos séquences.
Livrable : carte des gaps + plan d'action prioritaire.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88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Proposition Personnalisée (J+5)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7296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Proposition commerciale sur mesure avec roadmap technique, KPIs cibles
et plan de déploiement détaillé.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Kick-off &amp; Déploiement (J+10)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4988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4F7"/>
                </a:solidFill>
              </a:rPr>
              <a:t>Signature → Kick-off → Mise en production du premier canal
en moins de 3 semaines. Premier rapport à J+30.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86400"/>
            <a:ext cx="10698480" cy="82296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6509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Réservez votre audit gratuit →  contact@votreentreprise.com  ·  +33 (0)1 XX XX XX 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182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A99"/>
                </a:solidFill>
              </a:rPr>
              <a:t>[LOGO NON FOURNI]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